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141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1410"/>
                </a:solidFill>
                <a:latin typeface="Arial"/>
              </a:rPr>
              <a:t>MAU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Users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C14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</c:v>
                </c:pt>
                <c:pt idx="1">
                  <c:v>15000</c:v>
                </c:pt>
                <c:pt idx="2">
                  <c:v>80000</c:v>
                </c:pt>
                <c:pt idx="3">
                  <c:v>300000</c:v>
                </c:pt>
                <c:pt idx="4">
                  <c:v>800000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C14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D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D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141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1410"/>
                </a:solidFill>
                <a:latin typeface="Arial"/>
              </a:rPr>
              <a:t>Influencer Network Growth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Influencers</c:v>
                </c:pt>
              </c:strCache>
            </c:strRef>
          </c:tx>
          <c:spPr>
            <a:solidFill>
              <a:srgbClr val="D2691E"/>
            </a:solidFill>
            <a:ln w="25400" cap="flat">
              <a:solidFill>
                <a:srgbClr val="D269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2691E"/>
              </a:solidFill>
              <a:ln w="9525" cap="flat">
                <a:solidFill>
                  <a:srgbClr val="D269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75</c:v>
                </c:pt>
                <c:pt idx="2">
                  <c:v>400</c:v>
                </c:pt>
                <c:pt idx="3">
                  <c:v>1500</c:v>
                </c:pt>
                <c:pt idx="4">
                  <c:v>5000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D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D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D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5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BetweenPages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companion that actually knows your next book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Strategy Review  |  April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9D5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discovery is a $2.14B market growing at 13.2% CAGR — projected to reach $6.14B by 2033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560320" cy="64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$2.14B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Discovery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463040"/>
            <a:ext cx="2560320" cy="64008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26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2024-2033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63040"/>
            <a:ext cx="256032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150M+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(Underserved)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46120"/>
            <a:ext cx="54864" cy="1554480"/>
          </a:xfrm>
          <a:prstGeom prst="rect">
            <a:avLst/>
          </a:prstGeom>
          <a:solidFill>
            <a:srgbClr val="C59D5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37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BookTok Influence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6118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250B+ views; 35% of under-30 readers discover books via social media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3246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51760" y="3246120"/>
            <a:ext cx="54864" cy="1554480"/>
          </a:xfrm>
          <a:prstGeom prst="rect">
            <a:avLst/>
          </a:prstGeom>
          <a:solidFill>
            <a:srgbClr val="C59D5F"/>
          </a:solidFill>
          <a:ln/>
        </p:spPr>
      </p:sp>
      <p:sp>
        <p:nvSpPr>
          <p:cNvPr id="22" name="Text 20"/>
          <p:cNvSpPr/>
          <p:nvPr/>
        </p:nvSpPr>
        <p:spPr>
          <a:xfrm>
            <a:off x="2788920" y="3337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Exodus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36118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actively migrating — StoryGraph gained 25K subscribers/day during peak 2024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46120"/>
            <a:ext cx="54864" cy="1554480"/>
          </a:xfrm>
          <a:prstGeom prst="rect">
            <a:avLst/>
          </a:prstGeom>
          <a:solidFill>
            <a:srgbClr val="C59D5F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337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Rising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for book recs is emerging but no player owns it yet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3246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3246120"/>
            <a:ext cx="54864" cy="1554480"/>
          </a:xfrm>
          <a:prstGeom prst="rect">
            <a:avLst/>
          </a:prstGeom>
          <a:solidFill>
            <a:srgbClr val="C59D5F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3337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Growth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36118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LatAm, Eastern Europe growing 9-16% YoY — underserved by English-only platforms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fragmenting — Goodreads dominates by inertia, not innovation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1645920"/>
          </a:xfrm>
          <a:prstGeom prst="rect">
            <a:avLst/>
          </a:prstGeom>
          <a:solidFill>
            <a:srgbClr val="2A1F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260604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356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Goodreads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 users  |  Dominant incumbent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UX, review manipulation, no AI innovation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2606040" cy="1645920"/>
          </a:xfrm>
          <a:prstGeom prst="rect">
            <a:avLst/>
          </a:prstGeom>
          <a:solidFill>
            <a:srgbClr val="2A1F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25880"/>
            <a:ext cx="2606040" cy="54864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4356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StoryGraph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1737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users  |  AI-first challenger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2057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social features, English-only, no conversational UI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2606040" cy="1645920"/>
          </a:xfrm>
          <a:prstGeom prst="rect">
            <a:avLst/>
          </a:prstGeom>
          <a:solidFill>
            <a:srgbClr val="2A1F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25880"/>
            <a:ext cx="2606040" cy="54864"/>
          </a:xfrm>
          <a:prstGeom prst="rect">
            <a:avLst/>
          </a:prstGeom>
          <a:solidFill>
            <a:srgbClr val="F2CC8F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4356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1737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 users  |  Social book clubs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2057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recs, acquired by Scribd, English-only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2606040" cy="1645920"/>
          </a:xfrm>
          <a:prstGeom prst="rect">
            <a:avLst/>
          </a:prstGeom>
          <a:solidFill>
            <a:srgbClr val="2A1F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154680"/>
            <a:ext cx="2606040" cy="54864"/>
          </a:xfrm>
          <a:prstGeom prst="rect">
            <a:avLst/>
          </a:prstGeom>
          <a:solidFill>
            <a:srgbClr val="3D405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644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&lt;1M users  |  Modern tracking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886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AI, tiny user base, no discovery engine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3154680"/>
            <a:ext cx="2606040" cy="1645920"/>
          </a:xfrm>
          <a:prstGeom prst="rect">
            <a:avLst/>
          </a:prstGeom>
          <a:solidFill>
            <a:srgbClr val="2A1F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154680"/>
            <a:ext cx="260604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2644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20440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scale  |  Ecosystem lock-in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3886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DRM, no social, no community, opaque algorithm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3154680"/>
            <a:ext cx="2606040" cy="1645920"/>
          </a:xfrm>
          <a:prstGeom prst="rect">
            <a:avLst/>
          </a:prstGeom>
          <a:solidFill>
            <a:srgbClr val="2A1F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154680"/>
            <a:ext cx="2606040" cy="54864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2644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Shepherd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5080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 authors  |  Author-curated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Author-first, small, no reader features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COMPARISON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280160"/>
                <a:gridCol w="1188720"/>
                <a:gridCol w="10972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Goodreads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9D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BetweenPages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4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Recommendations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Clubs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Influencer-led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UI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Languages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Chat-native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Ethical Monetization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Discovery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Community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Markets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EBF5E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BetweenPages is the only platform combining conversational AI + influencer curation + multi-language support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BETWEENPAGES WINS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unfilled gaps in the market — BetweenPages targets all of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64008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Discovery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offers chat-based book discovery as the primary interface. The Sanctuary is a category-defining feature.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competitors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conversational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64008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+ Community Hybrid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StoryGraph has AI but weak social. Fable has community but no AI. BetweenPages merges both with influencer curation.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unfilled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any single player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54680"/>
            <a:ext cx="64008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by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competitor is English-only. BetweenPages supports 17 languages and targets India, LatAm, Eastern Europe.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languages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 multilingual competitors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54680"/>
            <a:ext cx="64008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Affiliate Model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566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pushes Amazon. Kindle locks you in. BetweenPages lets readers choose where to buy — no bias, no lock-in.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choice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480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ecosystem lock-in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HEAD-TO-HEAD: GOODREADS vs BETWEENPAGES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2A1F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Goodreads (Incumbent)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 users but outdated 2000s-era UX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manipulation and extortion scams endemic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Amazon-biased affiliate recommendations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innovation — basic algorithm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discovery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English-dominant, poor localization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Challenge redesign angered users (2024)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transparency in recommendations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2A1F17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BetweenPages (Challenger)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chat-native UX built for mobile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Sanctuary — conversational AI discovery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recs: know why a book is suggested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powers recommendations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Mood-based, context-aware book matching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languages, 10 country charts built-in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&amp; book club curation layer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affiliate links — reader picks retailer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&amp; FINANCIAL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projection — influencer affiliate platform on GCP infrastructure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2801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4632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46320" y="1627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(Y5)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949440" y="12801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4944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49440" y="1627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Influencers (Y5)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846320" y="205740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66,000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46320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Books (Y5)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949440" y="205740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4944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49440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Conversion (Y5)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846320" y="283464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4632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8.5%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46320" y="31821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Commission (Y5)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949440" y="283464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4944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49440" y="31821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Book Price (Y5)</a:t>
            </a:r>
            <a:endParaRPr lang="en-US" sz="8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57200" y="3657600"/>
          <a:ext cx="41148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4846320" y="36576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502920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Infrastructure Costs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029200" y="39776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$150/mo  →  Year 5: $18K/mo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user growth on Cloud Run / GKE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Cost-efficient: Gemini Flash for AI inference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402336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in conversational AI book discovery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by design (17 languages)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chat-native UX for Gen Z readers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— powerful AI backbone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AI recs + influencer curation + affiliate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233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822960"/>
            <a:ext cx="40233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2344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base yet — cold start problem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relationships must be built from scratch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vs. well-funded competitors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localization is operationally complex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 model in practice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71800"/>
            <a:ext cx="40233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Goodreads user exodus (2024-2025)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LatAm, E. Europe underserved by English-only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BookTok/social media influencer partnerships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owns conversational discovery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B2B2C partnerships potential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40233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71800"/>
            <a:ext cx="402336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StoryGraph growing fast (5M users, bootstrapped)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+ Scribd merger creates a content moat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Amazon/Kindle investing in AI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commoditization may erode conversational edge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Goodreads' 150M user inertia hard to overcome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011680" cy="3749040"/>
          </a:xfrm>
          <a:prstGeom prst="rect">
            <a:avLst/>
          </a:prstGeom>
          <a:solidFill>
            <a:srgbClr val="2A1F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2011680" cy="54864"/>
          </a:xfrm>
          <a:prstGeom prst="rect">
            <a:avLst/>
          </a:prstGeom>
          <a:solidFill>
            <a:srgbClr val="C59D5F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18872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5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1399032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Month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&amp; Validate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01168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Sanctuary conversational AI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20-50 BookTok influencers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US/UK/India English-speaking readers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affiliate conversion 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051560"/>
            <a:ext cx="2011680" cy="3749040"/>
          </a:xfrm>
          <a:prstGeom prst="rect">
            <a:avLst/>
          </a:prstGeom>
          <a:solidFill>
            <a:srgbClr val="2A1F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51560"/>
            <a:ext cx="201168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1" name="Text 9"/>
          <p:cNvSpPr/>
          <p:nvPr/>
        </p:nvSpPr>
        <p:spPr>
          <a:xfrm>
            <a:off x="2670048" y="118872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0048" y="1399032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— 12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70048" y="164592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&amp; Growth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70048" y="201168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book club creation features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influencer network to 200+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peer-to-peer recommendations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discovery algorithms with usage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2011680" cy="3749040"/>
          </a:xfrm>
          <a:prstGeom prst="rect">
            <a:avLst/>
          </a:prstGeom>
          <a:solidFill>
            <a:srgbClr val="2A1F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51560"/>
            <a:ext cx="20116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18872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64608" y="1399032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 — 24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64608" y="164592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Global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01168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in Spanish, Portuguese, Hindi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publishers for direct links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Sanctuary Plus premium tier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LatAm, India, Eastern Europe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1051560"/>
            <a:ext cx="2011680" cy="3749040"/>
          </a:xfrm>
          <a:prstGeom prst="rect">
            <a:avLst/>
          </a:prstGeom>
          <a:solidFill>
            <a:srgbClr val="2A1F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0" y="105156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059168" y="118872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59168" y="1399032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24+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59168" y="164592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Diversify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59168" y="201168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Audiobook discovery integration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library &amp; publisher partnerships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for publishers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800K MAU by Year 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D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2A1F1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972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9D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17043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is ready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$2.14B market growing at 13.2% CAGR. Goodreads' 150M users are underserved and actively seeking alternatives.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2A1F1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574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9D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213055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owns conversational discovery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4231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Sanctuary is a category-defining feature. No competitor offers chat-based, AI-powered book discovery as the primary interface.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2A1F1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175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9D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309067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is wide open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33832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competitor is English-only. BetweenPages' 17-language, 10-country design targets the fastest-growing book markets.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2A1F1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9776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9D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40507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hybrid model is defensible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4343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+ influencer curation + transparent affiliate links creates a unique value loop no single competitor replicates.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9D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BetweenPages — Competitive Analysis</dc:title>
  <dc:subject>PptxGenJS Presentation</dc:subject>
  <dc:creator>BetweenPages</dc:creator>
  <cp:lastModifiedBy>BetweenPages</cp:lastModifiedBy>
  <cp:revision>1</cp:revision>
  <dcterms:created xsi:type="dcterms:W3CDTF">2026-04-13T21:16:24Z</dcterms:created>
  <dcterms:modified xsi:type="dcterms:W3CDTF">2026-04-13T21:16:24Z</dcterms:modified>
</cp:coreProperties>
</file>